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9"/>
  </p:notesMasterIdLst>
  <p:handoutMasterIdLst>
    <p:handoutMasterId r:id="rId10"/>
  </p:handoutMasterIdLst>
  <p:sldIdLst>
    <p:sldId id="350" r:id="rId5"/>
    <p:sldId id="430" r:id="rId6"/>
    <p:sldId id="434" r:id="rId7"/>
    <p:sldId id="435" r:id="rId8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26" autoAdjust="0"/>
  </p:normalViewPr>
  <p:slideViewPr>
    <p:cSldViewPr snapToGrid="0">
      <p:cViewPr varScale="1">
        <p:scale>
          <a:sx n="65" d="100"/>
          <a:sy n="65" d="100"/>
        </p:scale>
        <p:origin x="5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6DDD5-62CD-490F-AED1-A4E3DCB5364D}" type="datetime1">
              <a:rPr lang="es-MX" smtClean="0"/>
              <a:pPr/>
              <a:t>21/11/2025</a:t>
            </a:fld>
            <a:endParaRPr lang="es-MX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4069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MX" noProof="0" smtClean="0"/>
              <a:t>3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075944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posición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Marcador de posición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posición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posición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posición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posición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posición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posición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/>
          <a:p>
            <a:pPr rtl="0"/>
            <a:fld id="{2ABFB780-2149-4311-B62F-2A913C077482}" type="datetime4">
              <a:rPr lang="es-MX" noProof="0" smtClean="0">
                <a:latin typeface="+mn-lt"/>
              </a:rPr>
              <a:t>21 de noviembre de 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rtl="0"/>
            <a:r>
              <a:rPr lang="es-MX" noProof="0" dirty="0"/>
              <a:t>Revisión anual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9F6D589A-42E2-4B36-8805-860D234AC495}" type="datetime4">
              <a:rPr lang="es-MX" noProof="0" smtClean="0">
                <a:latin typeface="+mn-lt"/>
              </a:rPr>
              <a:t>21 de noviembre de 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MX" noProof="0" dirty="0"/>
              <a:t>Revisión anual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 gráfico</a:t>
            </a:r>
            <a:endParaRPr lang="es-MX" noProof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25F141E4-5E5F-4845-B8D7-3C55A2178325}" type="datetime4">
              <a:rPr lang="es-MX" noProof="0" smtClean="0">
                <a:latin typeface="+mn-lt"/>
              </a:rPr>
              <a:t>21 de noviembre de 2025</a:t>
            </a:fld>
            <a:endParaRPr lang="es-MX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MX" noProof="0"/>
              <a:t>Revisión anual</a:t>
            </a:r>
            <a:endParaRPr lang="es-MX" b="0" noProof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tabla</a:t>
            </a:r>
            <a:endParaRPr lang="es-MX" noProof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FDA047C0-5304-48FD-8984-0F5342E36F55}" type="datetime4">
              <a:rPr lang="es-MX" noProof="0" smtClean="0">
                <a:latin typeface="+mn-lt"/>
              </a:rPr>
              <a:t>21 de noviembre de 2025</a:t>
            </a:fld>
            <a:endParaRPr lang="es-MX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MX" noProof="0"/>
              <a:t>Revisión anual</a:t>
            </a:r>
            <a:endParaRPr lang="es-MX" b="0" noProof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s-MX" sz="20000" b="1" noProof="0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72" name="Marcador de posición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3" name="Marcador de posición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4" name="Marcador de posición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5" name="Marcador de posición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6" name="Marcador de posición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7" name="Marcador de posición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8" name="Marcador de posición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9" name="Marcador de posición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rtl="0"/>
            <a:fld id="{5CB96D81-167A-44AE-9BCF-4ED494A4AE1F}" type="datetime4">
              <a:rPr lang="es-MX" noProof="0" smtClean="0">
                <a:latin typeface="+mn-lt"/>
              </a:rPr>
              <a:t>21 de noviembre de 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es-MX" noProof="0" dirty="0"/>
              <a:t>Revisión anual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íne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6" name="Marcador de posición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97" name="Marcador de posición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2" name="Marcador de posición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3" name="Marcador de posición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6" name="Marcador de posición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7" name="Marcador de posición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8" name="Marcador de posición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9" name="Marcador de posición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 rtlCol="0"/>
          <a:lstStyle/>
          <a:p>
            <a:pPr rtl="0"/>
            <a:fld id="{4163F4A3-5F37-4E44-BE8C-91B4ACFEB9BF}" type="datetime4">
              <a:rPr lang="es-MX" noProof="0" smtClean="0">
                <a:latin typeface="+mn-lt"/>
              </a:rPr>
              <a:t>21 de noviembre de 2025</a:t>
            </a:fld>
            <a:endParaRPr lang="es-MX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rtl="0"/>
            <a:r>
              <a:rPr lang="es-MX" noProof="0"/>
              <a:t>Revisión anual</a:t>
            </a:r>
            <a:endParaRPr lang="es-MX" b="0" noProof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4664765F-4FB6-4202-9E9D-A26625E8FAC7}" type="datetime4">
              <a:rPr lang="es-MX" noProof="0" smtClean="0">
                <a:latin typeface="+mn-lt"/>
              </a:rPr>
              <a:t>21 de noviembre de 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MX" noProof="0" dirty="0"/>
              <a:t>Revisión anual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posición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posición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posición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D65D2FC-45E3-4BA1-BDB6-9771E5975F8F}" type="datetime4">
              <a:rPr lang="es-MX" noProof="0" smtClean="0">
                <a:latin typeface="+mn-lt"/>
              </a:rPr>
              <a:t>21 de noviembre de 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MX" noProof="0" dirty="0"/>
              <a:t>Revisión anual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posición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posición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posición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posición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posición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/>
          <a:p>
            <a:pPr rtl="0"/>
            <a:fld id="{670FCA8F-4735-4515-B1D3-DF89D087BBD3}" type="datetime4">
              <a:rPr lang="es-MX" noProof="0" smtClean="0">
                <a:latin typeface="+mn-lt"/>
              </a:rPr>
              <a:t>21 de noviembre de 2025</a:t>
            </a:fld>
            <a:endParaRPr lang="es-MX" noProof="0" dirty="0">
              <a:latin typeface="+mn-lt"/>
            </a:endParaRP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rtl="0"/>
            <a:r>
              <a:rPr lang="es-MX" noProof="0" dirty="0"/>
              <a:t>Revisión anual</a:t>
            </a:r>
            <a:endParaRPr lang="es-MX" b="0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ción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MX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/>
          <p:nvPr/>
        </p:nvSpPr>
        <p:spPr>
          <a:xfrm>
            <a:off x="2484" y="1"/>
            <a:ext cx="12187033" cy="300228"/>
          </a:xfrm>
          <a:custGeom>
            <a:avLst/>
            <a:gdLst/>
            <a:ahLst/>
            <a:cxnLst/>
            <a:rect l="l" t="t" r="r" b="b"/>
            <a:pathLst>
              <a:path w="6186311" h="152400" extrusionOk="0">
                <a:moveTo>
                  <a:pt x="0" y="0"/>
                </a:moveTo>
                <a:lnTo>
                  <a:pt x="6186311" y="0"/>
                </a:lnTo>
                <a:lnTo>
                  <a:pt x="6186311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63" name="Google Shape;63;p17"/>
          <p:cNvSpPr txBox="1">
            <a:spLocks noGrp="1"/>
          </p:cNvSpPr>
          <p:nvPr>
            <p:ph type="title"/>
          </p:nvPr>
        </p:nvSpPr>
        <p:spPr>
          <a:xfrm>
            <a:off x="603500" y="766700"/>
            <a:ext cx="7041200" cy="472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201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0" name="Marcador de posición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352FE442-AC1F-4EAB-8C6F-3115E7871F11}" type="datetime4">
              <a:rPr lang="es-MX" noProof="0" smtClean="0">
                <a:latin typeface="+mn-lt"/>
              </a:rPr>
              <a:t>21 de noviembre de 2025</a:t>
            </a:fld>
            <a:endParaRPr lang="es-MX" noProof="0">
              <a:latin typeface="+mn-lt"/>
            </a:endParaRPr>
          </a:p>
        </p:txBody>
      </p:sp>
      <p:sp>
        <p:nvSpPr>
          <p:cNvPr id="31" name="Marcador de posición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Revisión anual</a:t>
            </a:r>
            <a:endParaRPr lang="es-MX" b="0" noProof="0"/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76" r:id="rId8"/>
    <p:sldLayoutId id="2147483677" r:id="rId9"/>
    <p:sldLayoutId id="2147483685" r:id="rId10"/>
    <p:sldLayoutId id="2147483688" r:id="rId11"/>
    <p:sldLayoutId id="2147483692" r:id="rId12"/>
    <p:sldLayoutId id="2147483682" r:id="rId13"/>
    <p:sldLayoutId id="2147483694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93;p35">
            <a:extLst>
              <a:ext uri="{FF2B5EF4-FFF2-40B4-BE49-F238E27FC236}">
                <a16:creationId xmlns:a16="http://schemas.microsoft.com/office/drawing/2014/main" id="{8CDAB4E0-36DD-A939-4C9F-1E1E6778DC88}"/>
              </a:ext>
            </a:extLst>
          </p:cNvPr>
          <p:cNvSpPr txBox="1">
            <a:spLocks/>
          </p:cNvSpPr>
          <p:nvPr/>
        </p:nvSpPr>
        <p:spPr>
          <a:xfrm>
            <a:off x="4315968" y="548640"/>
            <a:ext cx="6391656" cy="3428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igtree Black"/>
              <a:buNone/>
              <a:defRPr sz="7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Lato"/>
              <a:buNone/>
              <a:defRPr sz="5200" b="1" i="0" u="none" strike="noStrike" cap="none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Lato"/>
              <a:buNone/>
              <a:defRPr sz="5200" b="1" i="0" u="none" strike="noStrike" cap="none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Lato"/>
              <a:buNone/>
              <a:defRPr sz="5200" b="1" i="0" u="none" strike="noStrike" cap="none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Lato"/>
              <a:buNone/>
              <a:defRPr sz="5200" b="1" i="0" u="none" strike="noStrike" cap="none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Lato"/>
              <a:buNone/>
              <a:defRPr sz="5200" b="1" i="0" u="none" strike="noStrike" cap="none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Lato"/>
              <a:buNone/>
              <a:defRPr sz="5200" b="1" i="0" u="none" strike="noStrike" cap="none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Lato"/>
              <a:buNone/>
              <a:defRPr sz="5200" b="1" i="0" u="none" strike="noStrike" cap="none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Lato"/>
              <a:buNone/>
              <a:defRPr sz="5200" b="1" i="0" u="none" strike="noStrike" cap="none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igtree Black"/>
              <a:buNone/>
              <a:tabLst/>
              <a:defRPr/>
            </a:pPr>
            <a:b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</a:br>
            <a:b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</a:br>
            <a:b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</a:br>
            <a:br>
              <a:rPr kumimoji="0" lang="es-MX" sz="40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</a:br>
            <a:r>
              <a:rPr kumimoji="0" lang="es-MX" sz="3600" b="1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  <a:t>Solución a prueba técnica para vacante de Científico </a:t>
            </a:r>
            <a:r>
              <a:rPr kumimoji="0" lang="es-MX" sz="3600" b="1" i="0" u="none" strike="noStrike" kern="0" cap="none" spc="0" normalizeH="0" baseline="0" noProof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  <a:t>de Datos</a:t>
            </a:r>
            <a:b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</a:br>
            <a:endParaRPr kumimoji="0" lang="es-MX" sz="2800" b="0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Figtree Black"/>
              <a:sym typeface="Figtree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igtree Black"/>
              <a:buNone/>
              <a:tabLst/>
              <a:defRPr/>
            </a:pPr>
            <a:endParaRPr kumimoji="0" lang="es-MX" sz="2800" b="0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Figtree Black"/>
              <a:sym typeface="Figtree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igtree Black"/>
              <a:buNone/>
              <a:tabLst/>
              <a:defRPr/>
            </a:pPr>
            <a:r>
              <a:rPr kumimoji="0" lang="en" sz="2000" b="1" i="0" u="none" strike="noStrike" kern="0" cap="none" spc="0" normalizeH="0" baseline="0" noProof="0" dirty="0">
                <a:ln>
                  <a:noFill/>
                </a:ln>
                <a:solidFill>
                  <a:srgbClr val="007B9D"/>
                </a:solidFill>
                <a:effectLst/>
                <a:uLnTx/>
                <a:uFillTx/>
                <a:latin typeface="Figtree"/>
                <a:ea typeface="Figtree"/>
                <a:cs typeface="Figtree"/>
                <a:sym typeface="Figtree"/>
              </a:rPr>
              <a:t>Problema de Regresión y Clasificación binaria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007B9D"/>
              </a:solidFill>
              <a:effectLst/>
              <a:uLnTx/>
              <a:uFillTx/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" name="Google Shape;294;p35">
            <a:extLst>
              <a:ext uri="{FF2B5EF4-FFF2-40B4-BE49-F238E27FC236}">
                <a16:creationId xmlns:a16="http://schemas.microsoft.com/office/drawing/2014/main" id="{A1F78ED4-CFD3-B60A-E06D-3C5E40E379D5}"/>
              </a:ext>
            </a:extLst>
          </p:cNvPr>
          <p:cNvSpPr txBox="1">
            <a:spLocks/>
          </p:cNvSpPr>
          <p:nvPr/>
        </p:nvSpPr>
        <p:spPr>
          <a:xfrm>
            <a:off x="7122902" y="5281826"/>
            <a:ext cx="4138900" cy="4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Lato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Presenta: Alessio Daniel Hernández Rojas</a:t>
            </a:r>
            <a:endParaRPr kumimoji="0" lang="es-MX" sz="1600" b="0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Lato"/>
              <a:sym typeface="Lato"/>
            </a:endParaRPr>
          </a:p>
        </p:txBody>
      </p:sp>
      <p:sp>
        <p:nvSpPr>
          <p:cNvPr id="15" name="Google Shape;294;p35">
            <a:extLst>
              <a:ext uri="{FF2B5EF4-FFF2-40B4-BE49-F238E27FC236}">
                <a16:creationId xmlns:a16="http://schemas.microsoft.com/office/drawing/2014/main" id="{647209BD-213A-5A8C-D0B8-99EF00614013}"/>
              </a:ext>
            </a:extLst>
          </p:cNvPr>
          <p:cNvSpPr txBox="1">
            <a:spLocks/>
          </p:cNvSpPr>
          <p:nvPr/>
        </p:nvSpPr>
        <p:spPr>
          <a:xfrm>
            <a:off x="10331604" y="6249174"/>
            <a:ext cx="1860396" cy="4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Lato"/>
              <a:buNone/>
              <a:tabLst/>
              <a:defRPr/>
            </a:pP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18 de Noviembre de 2025</a:t>
            </a:r>
          </a:p>
        </p:txBody>
      </p:sp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65;p43">
            <a:extLst>
              <a:ext uri="{FF2B5EF4-FFF2-40B4-BE49-F238E27FC236}">
                <a16:creationId xmlns:a16="http://schemas.microsoft.com/office/drawing/2014/main" id="{548EC6E8-E7AD-2BF2-BDC3-330A68FEE52E}"/>
              </a:ext>
            </a:extLst>
          </p:cNvPr>
          <p:cNvSpPr txBox="1">
            <a:spLocks/>
          </p:cNvSpPr>
          <p:nvPr/>
        </p:nvSpPr>
        <p:spPr>
          <a:xfrm>
            <a:off x="598080" y="676284"/>
            <a:ext cx="4805193" cy="853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 Black"/>
              <a:buNone/>
              <a:defRPr sz="35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3500"/>
              <a:buFont typeface="Figtree Black"/>
              <a:buNone/>
              <a:tabLst/>
              <a:defRPr/>
            </a:pPr>
            <a: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  <a:t>1. Planteamiento del problema</a:t>
            </a:r>
          </a:p>
        </p:txBody>
      </p:sp>
      <p:sp>
        <p:nvSpPr>
          <p:cNvPr id="8" name="Google Shape;366;p43">
            <a:extLst>
              <a:ext uri="{FF2B5EF4-FFF2-40B4-BE49-F238E27FC236}">
                <a16:creationId xmlns:a16="http://schemas.microsoft.com/office/drawing/2014/main" id="{9EC40273-2142-5D6E-E30D-91984E844C44}"/>
              </a:ext>
            </a:extLst>
          </p:cNvPr>
          <p:cNvSpPr txBox="1">
            <a:spLocks/>
          </p:cNvSpPr>
          <p:nvPr/>
        </p:nvSpPr>
        <p:spPr>
          <a:xfrm>
            <a:off x="833036" y="1529707"/>
            <a:ext cx="4387740" cy="1537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Lato"/>
              <a:buNone/>
              <a:tabLst/>
              <a:defRPr/>
            </a:pPr>
            <a:r>
              <a:rPr kumimoji="0" lang="es-MX" sz="12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Dado un conjunto de datos de 30,000 muestras de datos relacionados a otorgamiento de créditos, se requiere el mejor modelo que: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Lato"/>
              <a:buAutoNum type="arabicParenR"/>
              <a:tabLst/>
              <a:defRPr/>
            </a:pPr>
            <a:r>
              <a:rPr lang="es-MX" sz="1200" kern="0" dirty="0">
                <a:solidFill>
                  <a:srgbClr val="002A50"/>
                </a:solidFill>
              </a:rPr>
              <a:t>Prediga la variable el pago en el mes de junio(PAY_AMT4)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Lato"/>
              <a:buAutoNum type="arabicParenR"/>
              <a:tabLst/>
              <a:defRPr/>
            </a:pPr>
            <a:r>
              <a:rPr kumimoji="0" lang="es-MX" sz="12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Prediga </a:t>
            </a:r>
            <a:r>
              <a:rPr lang="es-MX" sz="1200" kern="0" dirty="0">
                <a:solidFill>
                  <a:srgbClr val="002A50"/>
                </a:solidFill>
              </a:rPr>
              <a:t>si pagaran o quedaran en Mora a futuro (</a:t>
            </a:r>
            <a:r>
              <a:rPr kumimoji="0" lang="es-MX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default_payment_next_month</a:t>
            </a:r>
            <a:r>
              <a:rPr kumimoji="0" lang="es-MX" sz="12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)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89DD6FB-7A35-E05E-B04E-5EC15A55DCB8}"/>
              </a:ext>
            </a:extLst>
          </p:cNvPr>
          <p:cNvSpPr/>
          <p:nvPr/>
        </p:nvSpPr>
        <p:spPr>
          <a:xfrm>
            <a:off x="662098" y="1414546"/>
            <a:ext cx="4677156" cy="1629302"/>
          </a:xfrm>
          <a:prstGeom prst="roundRect">
            <a:avLst/>
          </a:prstGeom>
          <a:solidFill>
            <a:srgbClr val="FFFF00">
              <a:alpha val="1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Google Shape;365;p43">
            <a:extLst>
              <a:ext uri="{FF2B5EF4-FFF2-40B4-BE49-F238E27FC236}">
                <a16:creationId xmlns:a16="http://schemas.microsoft.com/office/drawing/2014/main" id="{35882E71-CA8E-0F19-224E-0E941B7E8A1D}"/>
              </a:ext>
            </a:extLst>
          </p:cNvPr>
          <p:cNvSpPr txBox="1">
            <a:spLocks/>
          </p:cNvSpPr>
          <p:nvPr/>
        </p:nvSpPr>
        <p:spPr>
          <a:xfrm>
            <a:off x="478008" y="3141337"/>
            <a:ext cx="4925265" cy="853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 Black"/>
              <a:buNone/>
              <a:defRPr sz="35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3500"/>
              <a:buFont typeface="Figtree Black"/>
              <a:buNone/>
              <a:tabLst/>
              <a:defRPr/>
            </a:pPr>
            <a: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  <a:t>2. Conjunto de datos</a:t>
            </a:r>
          </a:p>
        </p:txBody>
      </p:sp>
      <p:sp>
        <p:nvSpPr>
          <p:cNvPr id="13" name="Google Shape;366;p43">
            <a:extLst>
              <a:ext uri="{FF2B5EF4-FFF2-40B4-BE49-F238E27FC236}">
                <a16:creationId xmlns:a16="http://schemas.microsoft.com/office/drawing/2014/main" id="{5EEE2039-46D1-39F9-3C23-4F162C225AE0}"/>
              </a:ext>
            </a:extLst>
          </p:cNvPr>
          <p:cNvSpPr txBox="1">
            <a:spLocks/>
          </p:cNvSpPr>
          <p:nvPr/>
        </p:nvSpPr>
        <p:spPr>
          <a:xfrm>
            <a:off x="305499" y="3994760"/>
            <a:ext cx="5227794" cy="200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3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0, 000 observaciones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13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 variables predictoras para regresión y 14 para clasificación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Todas las variables ya están convertidas a enteros pero se dividieron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No hay valores ausentes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La variable target de clasificación está muy desequilibrada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76EB131E-5D24-21B9-7C52-E558D5A2F7B3}"/>
              </a:ext>
            </a:extLst>
          </p:cNvPr>
          <p:cNvCxnSpPr>
            <a:cxnSpLocks/>
          </p:cNvCxnSpPr>
          <p:nvPr/>
        </p:nvCxnSpPr>
        <p:spPr>
          <a:xfrm>
            <a:off x="598080" y="1253197"/>
            <a:ext cx="4622696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0E7F4C5-2DDC-408D-8E15-14F111E6A8B0}"/>
              </a:ext>
            </a:extLst>
          </p:cNvPr>
          <p:cNvCxnSpPr>
            <a:cxnSpLocks/>
          </p:cNvCxnSpPr>
          <p:nvPr/>
        </p:nvCxnSpPr>
        <p:spPr>
          <a:xfrm>
            <a:off x="598079" y="3745948"/>
            <a:ext cx="4805193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366;p43">
            <a:extLst>
              <a:ext uri="{FF2B5EF4-FFF2-40B4-BE49-F238E27FC236}">
                <a16:creationId xmlns:a16="http://schemas.microsoft.com/office/drawing/2014/main" id="{89CF0309-AE6B-203E-C565-7576898EC010}"/>
              </a:ext>
            </a:extLst>
          </p:cNvPr>
          <p:cNvSpPr txBox="1">
            <a:spLocks/>
          </p:cNvSpPr>
          <p:nvPr/>
        </p:nvSpPr>
        <p:spPr>
          <a:xfrm>
            <a:off x="6852748" y="1414546"/>
            <a:ext cx="5087693" cy="1118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Etiqueta de variables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No hubo registros duplicados generales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No hubo valores vacíos (NA)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No hubo variables unitarias</a:t>
            </a:r>
          </a:p>
        </p:txBody>
      </p:sp>
      <p:sp>
        <p:nvSpPr>
          <p:cNvPr id="4" name="Google Shape;365;p43">
            <a:extLst>
              <a:ext uri="{FF2B5EF4-FFF2-40B4-BE49-F238E27FC236}">
                <a16:creationId xmlns:a16="http://schemas.microsoft.com/office/drawing/2014/main" id="{D102D250-3AAF-CD6D-4656-0A8CB34264E8}"/>
              </a:ext>
            </a:extLst>
          </p:cNvPr>
          <p:cNvSpPr txBox="1">
            <a:spLocks/>
          </p:cNvSpPr>
          <p:nvPr/>
        </p:nvSpPr>
        <p:spPr>
          <a:xfrm>
            <a:off x="6445175" y="647401"/>
            <a:ext cx="421776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 Black"/>
              <a:buNone/>
              <a:defRPr sz="35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3500"/>
              <a:buFont typeface="Figtree Black"/>
              <a:buNone/>
              <a:tabLst/>
              <a:defRPr/>
            </a:pPr>
            <a: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  <a:t>3. Calidad de Datos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21CF33F-DCE4-E451-5094-09FF88271B25}"/>
              </a:ext>
            </a:extLst>
          </p:cNvPr>
          <p:cNvCxnSpPr>
            <a:cxnSpLocks/>
          </p:cNvCxnSpPr>
          <p:nvPr/>
        </p:nvCxnSpPr>
        <p:spPr>
          <a:xfrm>
            <a:off x="6574129" y="1253197"/>
            <a:ext cx="4805193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oogle Shape;365;p43">
            <a:extLst>
              <a:ext uri="{FF2B5EF4-FFF2-40B4-BE49-F238E27FC236}">
                <a16:creationId xmlns:a16="http://schemas.microsoft.com/office/drawing/2014/main" id="{2B2CBE16-93F7-528C-C5D2-1548E2014D79}"/>
              </a:ext>
            </a:extLst>
          </p:cNvPr>
          <p:cNvSpPr txBox="1">
            <a:spLocks/>
          </p:cNvSpPr>
          <p:nvPr/>
        </p:nvSpPr>
        <p:spPr>
          <a:xfrm>
            <a:off x="6445175" y="2623771"/>
            <a:ext cx="685986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 Black"/>
              <a:buNone/>
              <a:defRPr sz="35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3500"/>
              <a:buFont typeface="Figtree Black"/>
              <a:buNone/>
              <a:tabLst/>
              <a:defRPr/>
            </a:pPr>
            <a:r>
              <a:rPr lang="es-MX" sz="2800" kern="0" dirty="0">
                <a:solidFill>
                  <a:srgbClr val="002A50"/>
                </a:solidFill>
              </a:rPr>
              <a:t>4. Análisis Exploratorio inicial</a:t>
            </a:r>
            <a:endParaRPr kumimoji="0" lang="es-MX" sz="2800" b="0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Figtree Black"/>
              <a:sym typeface="Figtree Black"/>
            </a:endParaRP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819D4927-F434-FB4E-88F4-BBCCA314BDF2}"/>
              </a:ext>
            </a:extLst>
          </p:cNvPr>
          <p:cNvCxnSpPr>
            <a:cxnSpLocks/>
          </p:cNvCxnSpPr>
          <p:nvPr/>
        </p:nvCxnSpPr>
        <p:spPr>
          <a:xfrm>
            <a:off x="6445175" y="3371557"/>
            <a:ext cx="4805193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Google Shape;366;p43">
            <a:extLst>
              <a:ext uri="{FF2B5EF4-FFF2-40B4-BE49-F238E27FC236}">
                <a16:creationId xmlns:a16="http://schemas.microsoft.com/office/drawing/2014/main" id="{159AF13B-FFEC-80F5-6E2A-C08A401EE67A}"/>
              </a:ext>
            </a:extLst>
          </p:cNvPr>
          <p:cNvSpPr txBox="1">
            <a:spLocks/>
          </p:cNvSpPr>
          <p:nvPr/>
        </p:nvSpPr>
        <p:spPr>
          <a:xfrm>
            <a:off x="6445175" y="3561003"/>
            <a:ext cx="4860707" cy="381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Variables categóricas:</a:t>
            </a:r>
          </a:p>
          <a:p>
            <a:pPr marL="800100" lvl="1" indent="-342900" algn="just">
              <a:lnSpc>
                <a:spcPct val="115000"/>
              </a:lnSpc>
              <a:buClr>
                <a:srgbClr val="002A50"/>
              </a:buClr>
              <a:buFont typeface="Wingdings" panose="05000000000000000000" pitchFamily="2" charset="2"/>
              <a:buChar char="ü"/>
            </a:pPr>
            <a:r>
              <a:rPr lang="es-MX" kern="0" dirty="0">
                <a:solidFill>
                  <a:srgbClr val="002A50"/>
                </a:solidFill>
              </a:rPr>
              <a:t>Hubo </a:t>
            </a:r>
            <a:r>
              <a:rPr lang="es-MX" kern="0" dirty="0" err="1">
                <a:solidFill>
                  <a:srgbClr val="002A50"/>
                </a:solidFill>
              </a:rPr>
              <a:t>recategorizacipon</a:t>
            </a:r>
            <a:r>
              <a:rPr lang="es-MX" kern="0" dirty="0">
                <a:solidFill>
                  <a:srgbClr val="002A50"/>
                </a:solidFill>
              </a:rPr>
              <a:t> en educación y estado civil</a:t>
            </a:r>
            <a:endParaRPr kumimoji="0" lang="es-MX" b="0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Lato"/>
              <a:sym typeface="Lato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Variables numéricas:</a:t>
            </a:r>
            <a:endParaRPr kumimoji="0" lang="es-MX" b="0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Lato"/>
              <a:sym typeface="Lato"/>
            </a:endParaRPr>
          </a:p>
          <a:p>
            <a:pPr marL="800100" lvl="1" indent="-342900" algn="just">
              <a:lnSpc>
                <a:spcPct val="115000"/>
              </a:lnSpc>
              <a:buClr>
                <a:srgbClr val="002A50"/>
              </a:buClr>
              <a:buFont typeface="Wingdings" panose="05000000000000000000" pitchFamily="2" charset="2"/>
              <a:buChar char="ü"/>
            </a:pPr>
            <a:r>
              <a:rPr lang="es-MX" kern="0" dirty="0">
                <a:solidFill>
                  <a:srgbClr val="002A50"/>
                </a:solidFill>
              </a:rPr>
              <a:t>Todas tienen atípicos (“</a:t>
            </a:r>
            <a:r>
              <a:rPr lang="es-MX" kern="0" dirty="0" err="1">
                <a:solidFill>
                  <a:srgbClr val="002A50"/>
                </a:solidFill>
              </a:rPr>
              <a:t>outliers</a:t>
            </a:r>
            <a:r>
              <a:rPr lang="es-MX" kern="0" dirty="0">
                <a:solidFill>
                  <a:srgbClr val="002A50"/>
                </a:solidFill>
              </a:rPr>
              <a:t>”)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Target de clasificación:</a:t>
            </a:r>
          </a:p>
          <a:p>
            <a:pPr marL="800100" lvl="1" indent="-342900" algn="just">
              <a:lnSpc>
                <a:spcPct val="115000"/>
              </a:lnSpc>
              <a:buClr>
                <a:srgbClr val="002A50"/>
              </a:buClr>
              <a:buFont typeface="Wingdings" panose="05000000000000000000" pitchFamily="2" charset="2"/>
              <a:buChar char="ü"/>
            </a:pPr>
            <a:r>
              <a:rPr lang="es-MX" kern="0" dirty="0">
                <a:solidFill>
                  <a:srgbClr val="002A50"/>
                </a:solidFill>
              </a:rPr>
              <a:t>y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 es binaria y desequilibrado, con más muestras en clase “0” 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Correlación:</a:t>
            </a:r>
          </a:p>
          <a:p>
            <a:pPr marL="800100" lvl="1" indent="-342900" algn="just">
              <a:lnSpc>
                <a:spcPct val="115000"/>
              </a:lnSpc>
              <a:buClr>
                <a:srgbClr val="002A50"/>
              </a:buClr>
              <a:buFont typeface="Wingdings" panose="05000000000000000000" pitchFamily="2" charset="2"/>
              <a:buChar char="ü"/>
            </a:pPr>
            <a:r>
              <a:rPr lang="es-MX" kern="0" dirty="0">
                <a:solidFill>
                  <a:srgbClr val="002A50"/>
                </a:solidFill>
              </a:rPr>
              <a:t>Las variables BILL_AMTX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 tienen </a:t>
            </a:r>
            <a:r>
              <a:rPr lang="es-MX" kern="0" dirty="0">
                <a:solidFill>
                  <a:srgbClr val="002A50"/>
                </a:solidFill>
              </a:rPr>
              <a:t>alta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 correlación lineal</a:t>
            </a:r>
            <a:endParaRPr lang="es-MX" kern="0" dirty="0">
              <a:solidFill>
                <a:srgbClr val="002A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612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BA923-0B28-1526-B65E-048272F17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5;p43">
            <a:extLst>
              <a:ext uri="{FF2B5EF4-FFF2-40B4-BE49-F238E27FC236}">
                <a16:creationId xmlns:a16="http://schemas.microsoft.com/office/drawing/2014/main" id="{41B4B7DB-5C8D-AD7F-88D9-EA155A349B29}"/>
              </a:ext>
            </a:extLst>
          </p:cNvPr>
          <p:cNvSpPr txBox="1">
            <a:spLocks/>
          </p:cNvSpPr>
          <p:nvPr/>
        </p:nvSpPr>
        <p:spPr>
          <a:xfrm>
            <a:off x="377371" y="788623"/>
            <a:ext cx="3569880" cy="117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 Black"/>
              <a:buNone/>
              <a:defRPr sz="35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3500"/>
              <a:buFont typeface="Figtree Black"/>
              <a:buNone/>
              <a:tabLst/>
              <a:defRPr/>
            </a:pPr>
            <a:r>
              <a:rPr lang="es-MX" sz="2800" kern="0" dirty="0">
                <a:solidFill>
                  <a:srgbClr val="002A50"/>
                </a:solidFill>
              </a:rPr>
              <a:t>5. Preprocesamiento antes de modelado</a:t>
            </a:r>
            <a:endParaRPr kumimoji="0" lang="es-MX" sz="2800" b="0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Figtree Black"/>
              <a:sym typeface="Figtree Black"/>
            </a:endParaRPr>
          </a:p>
        </p:txBody>
      </p:sp>
      <p:sp>
        <p:nvSpPr>
          <p:cNvPr id="3" name="Google Shape;366;p43">
            <a:extLst>
              <a:ext uri="{FF2B5EF4-FFF2-40B4-BE49-F238E27FC236}">
                <a16:creationId xmlns:a16="http://schemas.microsoft.com/office/drawing/2014/main" id="{ABCC65C5-D204-7AC1-0480-499367A5CDE6}"/>
              </a:ext>
            </a:extLst>
          </p:cNvPr>
          <p:cNvSpPr txBox="1">
            <a:spLocks/>
          </p:cNvSpPr>
          <p:nvPr/>
        </p:nvSpPr>
        <p:spPr>
          <a:xfrm>
            <a:off x="593987" y="1988700"/>
            <a:ext cx="3752760" cy="282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Eliminación de valores atípicos (“</a:t>
            </a:r>
            <a:r>
              <a:rPr kumimoji="0" lang="es-MX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outliers</a:t>
            </a: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”)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lang="es-MX" kern="0" dirty="0" err="1">
                <a:solidFill>
                  <a:srgbClr val="002A50"/>
                </a:solidFill>
              </a:rPr>
              <a:t>One</a:t>
            </a:r>
            <a:r>
              <a:rPr lang="es-MX" kern="0" dirty="0">
                <a:solidFill>
                  <a:srgbClr val="002A50"/>
                </a:solidFill>
              </a:rPr>
              <a:t>-Hot-</a:t>
            </a:r>
            <a:r>
              <a:rPr lang="es-MX" kern="0" dirty="0" err="1">
                <a:solidFill>
                  <a:srgbClr val="002A50"/>
                </a:solidFill>
              </a:rPr>
              <a:t>Encoding</a:t>
            </a:r>
            <a:r>
              <a:rPr lang="es-MX" kern="0" dirty="0">
                <a:solidFill>
                  <a:srgbClr val="002A50"/>
                </a:solidFill>
              </a:rPr>
              <a:t> de SEX,EDUCATION y MARRIAGE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Se crearon nuevas características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Se eliminaron las variables para cada problema objetivo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EBF572D-F26F-F6B4-17C1-1A60007CE49B}"/>
              </a:ext>
            </a:extLst>
          </p:cNvPr>
          <p:cNvCxnSpPr>
            <a:cxnSpLocks/>
          </p:cNvCxnSpPr>
          <p:nvPr/>
        </p:nvCxnSpPr>
        <p:spPr>
          <a:xfrm>
            <a:off x="736224" y="6021232"/>
            <a:ext cx="21945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366;p43">
            <a:extLst>
              <a:ext uri="{FF2B5EF4-FFF2-40B4-BE49-F238E27FC236}">
                <a16:creationId xmlns:a16="http://schemas.microsoft.com/office/drawing/2014/main" id="{316E8021-2667-3B75-0733-98ACDAE7448B}"/>
              </a:ext>
            </a:extLst>
          </p:cNvPr>
          <p:cNvSpPr txBox="1">
            <a:spLocks/>
          </p:cNvSpPr>
          <p:nvPr/>
        </p:nvSpPr>
        <p:spPr>
          <a:xfrm>
            <a:off x="5431537" y="788623"/>
            <a:ext cx="6245351" cy="1554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q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Se propusieron 3 modelos principales: </a:t>
            </a:r>
            <a:r>
              <a:rPr lang="es-MX" kern="0" dirty="0" err="1">
                <a:solidFill>
                  <a:srgbClr val="002A50"/>
                </a:solidFill>
              </a:rPr>
              <a:t>Random</a:t>
            </a:r>
            <a:r>
              <a:rPr lang="es-MX" kern="0" dirty="0">
                <a:solidFill>
                  <a:srgbClr val="002A50"/>
                </a:solidFill>
              </a:rPr>
              <a:t> Forest, </a:t>
            </a:r>
            <a:r>
              <a:rPr lang="es-MX" kern="0" dirty="0" err="1">
                <a:solidFill>
                  <a:srgbClr val="002A50"/>
                </a:solidFill>
              </a:rPr>
              <a:t>XGBoosting</a:t>
            </a:r>
            <a:r>
              <a:rPr lang="es-MX" kern="0" dirty="0">
                <a:solidFill>
                  <a:srgbClr val="002A50"/>
                </a:solidFill>
              </a:rPr>
              <a:t> y </a:t>
            </a:r>
            <a:r>
              <a:rPr lang="es-MX" kern="0" dirty="0" err="1">
                <a:solidFill>
                  <a:srgbClr val="002A50"/>
                </a:solidFill>
              </a:rPr>
              <a:t>LightGBM</a:t>
            </a:r>
            <a:endParaRPr lang="es-MX" kern="0" dirty="0">
              <a:solidFill>
                <a:srgbClr val="002A50"/>
              </a:solidFill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q"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La métrica a maximizar por el modelo fue R2</a:t>
            </a:r>
            <a:endParaRPr kumimoji="0" lang="es-MX" b="1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Lato"/>
              <a:sym typeface="Lato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q"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 El mejor modelo fue</a:t>
            </a:r>
            <a:r>
              <a:rPr lang="es-MX" kern="0" dirty="0">
                <a:solidFill>
                  <a:srgbClr val="002A50"/>
                </a:solidFill>
              </a:rPr>
              <a:t> </a:t>
            </a:r>
            <a:r>
              <a:rPr lang="es-MX" kern="0" dirty="0" err="1">
                <a:solidFill>
                  <a:srgbClr val="002A50"/>
                </a:solidFill>
              </a:rPr>
              <a:t>XGBoost</a:t>
            </a:r>
            <a:r>
              <a:rPr lang="es-MX" kern="0" dirty="0">
                <a:solidFill>
                  <a:srgbClr val="002A50"/>
                </a:solidFill>
              </a:rPr>
              <a:t> </a:t>
            </a: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con ~82% de R2.</a:t>
            </a:r>
            <a:endParaRPr kumimoji="0" lang="es-MX" sz="1100" b="0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Lato" panose="020F0502020204030203" pitchFamily="34" charset="0"/>
              <a:sym typeface="Lato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875BA9C-BEE0-EFB8-1566-C7F7596335EF}"/>
              </a:ext>
            </a:extLst>
          </p:cNvPr>
          <p:cNvCxnSpPr>
            <a:cxnSpLocks/>
          </p:cNvCxnSpPr>
          <p:nvPr/>
        </p:nvCxnSpPr>
        <p:spPr>
          <a:xfrm>
            <a:off x="515112" y="1839230"/>
            <a:ext cx="3212501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BE3E1D26-3F1E-70D5-016A-613AB55F986E}"/>
              </a:ext>
            </a:extLst>
          </p:cNvPr>
          <p:cNvCxnSpPr>
            <a:cxnSpLocks/>
          </p:cNvCxnSpPr>
          <p:nvPr/>
        </p:nvCxnSpPr>
        <p:spPr>
          <a:xfrm>
            <a:off x="377371" y="4816839"/>
            <a:ext cx="3821650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E8D0DD9E-DF80-06A0-B64E-9F0ED935C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680" y="5247376"/>
            <a:ext cx="3029373" cy="1143160"/>
          </a:xfrm>
          <a:prstGeom prst="rect">
            <a:avLst/>
          </a:prstGeom>
        </p:spPr>
      </p:pic>
      <p:sp>
        <p:nvSpPr>
          <p:cNvPr id="10" name="Google Shape;365;p43">
            <a:extLst>
              <a:ext uri="{FF2B5EF4-FFF2-40B4-BE49-F238E27FC236}">
                <a16:creationId xmlns:a16="http://schemas.microsoft.com/office/drawing/2014/main" id="{9711ACC2-46B4-6D29-4079-CB30A7035640}"/>
              </a:ext>
            </a:extLst>
          </p:cNvPr>
          <p:cNvSpPr txBox="1">
            <a:spLocks/>
          </p:cNvSpPr>
          <p:nvPr/>
        </p:nvSpPr>
        <p:spPr>
          <a:xfrm>
            <a:off x="377371" y="3813602"/>
            <a:ext cx="404906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 Black"/>
              <a:buNone/>
              <a:defRPr sz="35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3500"/>
              <a:buFont typeface="Figtree Black"/>
              <a:buNone/>
              <a:tabLst/>
              <a:defRPr/>
            </a:pPr>
            <a:r>
              <a:rPr lang="es-MX" sz="2800" kern="0" dirty="0">
                <a:solidFill>
                  <a:srgbClr val="002A50"/>
                </a:solidFill>
              </a:rPr>
              <a:t>6a. Modelo para predecir </a:t>
            </a:r>
            <a:r>
              <a:rPr lang="es-MX" sz="2800" b="1" kern="0" dirty="0">
                <a:solidFill>
                  <a:srgbClr val="002A50"/>
                </a:solidFill>
              </a:rPr>
              <a:t>PAY_AMT4 </a:t>
            </a:r>
            <a:endParaRPr kumimoji="0" lang="es-MX" sz="2800" b="1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Figtree Black"/>
              <a:sym typeface="Figtree Black"/>
            </a:endParaRPr>
          </a:p>
        </p:txBody>
      </p:sp>
      <p:sp>
        <p:nvSpPr>
          <p:cNvPr id="16" name="Google Shape;365;p43">
            <a:extLst>
              <a:ext uri="{FF2B5EF4-FFF2-40B4-BE49-F238E27FC236}">
                <a16:creationId xmlns:a16="http://schemas.microsoft.com/office/drawing/2014/main" id="{72194566-15F8-7157-52E2-AD1DCCB1C740}"/>
              </a:ext>
            </a:extLst>
          </p:cNvPr>
          <p:cNvSpPr txBox="1">
            <a:spLocks/>
          </p:cNvSpPr>
          <p:nvPr/>
        </p:nvSpPr>
        <p:spPr>
          <a:xfrm>
            <a:off x="5570394" y="2056754"/>
            <a:ext cx="624535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 Black"/>
              <a:buNone/>
              <a:defRPr sz="35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3500"/>
              <a:buFont typeface="Figtree Black"/>
              <a:buNone/>
              <a:tabLst/>
              <a:defRPr/>
            </a:pPr>
            <a:r>
              <a:rPr lang="es-MX" sz="2800" kern="0" dirty="0">
                <a:solidFill>
                  <a:srgbClr val="002A50"/>
                </a:solidFill>
              </a:rPr>
              <a:t>6b. Modelo para predecir </a:t>
            </a:r>
            <a:r>
              <a:rPr lang="es-MX" sz="2800" b="1" kern="0" dirty="0" err="1">
                <a:solidFill>
                  <a:srgbClr val="002A50"/>
                </a:solidFill>
              </a:rPr>
              <a:t>default_payment_next_month</a:t>
            </a:r>
            <a:endParaRPr kumimoji="0" lang="es-MX" sz="2800" b="1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Figtree Black"/>
              <a:sym typeface="Figtree Black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9AAAE7F-BCFA-94D1-682D-5970EFD36241}"/>
              </a:ext>
            </a:extLst>
          </p:cNvPr>
          <p:cNvCxnSpPr>
            <a:cxnSpLocks/>
          </p:cNvCxnSpPr>
          <p:nvPr/>
        </p:nvCxnSpPr>
        <p:spPr>
          <a:xfrm>
            <a:off x="5599908" y="3080391"/>
            <a:ext cx="5908607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oogle Shape;366;p43">
            <a:extLst>
              <a:ext uri="{FF2B5EF4-FFF2-40B4-BE49-F238E27FC236}">
                <a16:creationId xmlns:a16="http://schemas.microsoft.com/office/drawing/2014/main" id="{D98F7540-44C7-8875-7E5E-E5374D17E45F}"/>
              </a:ext>
            </a:extLst>
          </p:cNvPr>
          <p:cNvSpPr txBox="1">
            <a:spLocks/>
          </p:cNvSpPr>
          <p:nvPr/>
        </p:nvSpPr>
        <p:spPr>
          <a:xfrm>
            <a:off x="5599908" y="4955658"/>
            <a:ext cx="6011647" cy="1661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q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Se propusieron los mismos modelos pero en su versión de clasificación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q"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La métrica a maximizar por el modelo fue </a:t>
            </a: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F1-Score de Clase ‘1’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q"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El mejor modelo fue </a:t>
            </a:r>
            <a:r>
              <a:rPr kumimoji="0" lang="es-MX" b="0" i="0" u="none" strike="noStrike" kern="0" cap="none" spc="0" normalizeH="0" baseline="0" noProof="0" dirty="0" err="1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RandomForest</a:t>
            </a: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 con ~</a:t>
            </a:r>
            <a:r>
              <a:rPr lang="es-MX" kern="0" dirty="0">
                <a:solidFill>
                  <a:srgbClr val="002A50"/>
                </a:solidFill>
              </a:rPr>
              <a:t>54</a:t>
            </a: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% de </a:t>
            </a:r>
            <a:r>
              <a:rPr kumimoji="0" lang="es-MX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Recall</a:t>
            </a: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 de Clase ‘1’. Sin embargo, es un punto a mejorar si es que se opta por detectar mas la categoría de mora. Esto se debe principalmente a los datos desbalanceados.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q"/>
              <a:tabLst/>
              <a:defRPr/>
            </a:pPr>
            <a:endParaRPr lang="es-MX" sz="1100" b="1" kern="0" dirty="0">
              <a:solidFill>
                <a:srgbClr val="002A50"/>
              </a:solidFill>
              <a:latin typeface="Lato" panose="020F0502020204030203" pitchFamily="34" charset="0"/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6FB3DEB4-AAB5-6939-1870-4BFC59F35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9908" y="3370235"/>
            <a:ext cx="6216699" cy="1459433"/>
          </a:xfrm>
          <a:prstGeom prst="rect">
            <a:avLst/>
          </a:prstGeom>
        </p:spPr>
      </p:pic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EDAF4780-3BD6-4C29-9DD3-DA39EBCD2A1B}"/>
              </a:ext>
            </a:extLst>
          </p:cNvPr>
          <p:cNvCxnSpPr>
            <a:cxnSpLocks/>
          </p:cNvCxnSpPr>
          <p:nvPr/>
        </p:nvCxnSpPr>
        <p:spPr>
          <a:xfrm>
            <a:off x="5321809" y="4150055"/>
            <a:ext cx="21945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agen 24">
            <a:extLst>
              <a:ext uri="{FF2B5EF4-FFF2-40B4-BE49-F238E27FC236}">
                <a16:creationId xmlns:a16="http://schemas.microsoft.com/office/drawing/2014/main" id="{B94B350A-D68A-5125-3129-474B095ECA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626" y="1416451"/>
            <a:ext cx="1719491" cy="145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520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C974B-72F7-2EE0-0CD7-D8B71D7B0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5;p43">
            <a:extLst>
              <a:ext uri="{FF2B5EF4-FFF2-40B4-BE49-F238E27FC236}">
                <a16:creationId xmlns:a16="http://schemas.microsoft.com/office/drawing/2014/main" id="{00E00E0D-BDD4-71E2-6026-7ABEADA47363}"/>
              </a:ext>
            </a:extLst>
          </p:cNvPr>
          <p:cNvSpPr txBox="1">
            <a:spLocks/>
          </p:cNvSpPr>
          <p:nvPr/>
        </p:nvSpPr>
        <p:spPr>
          <a:xfrm>
            <a:off x="7524482" y="736043"/>
            <a:ext cx="4285053" cy="60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 Black"/>
              <a:buNone/>
              <a:defRPr sz="35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3500"/>
              <a:buFont typeface="Figtree Black"/>
              <a:buNone/>
              <a:tabLst/>
              <a:defRPr/>
            </a:pPr>
            <a: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  <a:t>8. Trabajo a futuro</a:t>
            </a:r>
          </a:p>
        </p:txBody>
      </p:sp>
      <p:sp>
        <p:nvSpPr>
          <p:cNvPr id="6" name="Google Shape;365;p43">
            <a:extLst>
              <a:ext uri="{FF2B5EF4-FFF2-40B4-BE49-F238E27FC236}">
                <a16:creationId xmlns:a16="http://schemas.microsoft.com/office/drawing/2014/main" id="{D1F279B0-5EE1-D8A9-E00A-E02B41353549}"/>
              </a:ext>
            </a:extLst>
          </p:cNvPr>
          <p:cNvSpPr txBox="1">
            <a:spLocks/>
          </p:cNvSpPr>
          <p:nvPr/>
        </p:nvSpPr>
        <p:spPr>
          <a:xfrm>
            <a:off x="1627529" y="736043"/>
            <a:ext cx="4285053" cy="60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 Black"/>
              <a:buNone/>
              <a:defRPr sz="35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3500"/>
              <a:buFont typeface="Figtree Black"/>
              <a:buNone/>
              <a:tabLst/>
              <a:defRPr/>
            </a:pPr>
            <a: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  <a:t>7. Conclusiones</a:t>
            </a:r>
          </a:p>
        </p:txBody>
      </p:sp>
      <p:sp>
        <p:nvSpPr>
          <p:cNvPr id="15" name="Google Shape;366;p43">
            <a:extLst>
              <a:ext uri="{FF2B5EF4-FFF2-40B4-BE49-F238E27FC236}">
                <a16:creationId xmlns:a16="http://schemas.microsoft.com/office/drawing/2014/main" id="{AB5F040A-7988-CAFB-B04E-4B6B75E93F62}"/>
              </a:ext>
            </a:extLst>
          </p:cNvPr>
          <p:cNvSpPr txBox="1">
            <a:spLocks/>
          </p:cNvSpPr>
          <p:nvPr/>
        </p:nvSpPr>
        <p:spPr>
          <a:xfrm>
            <a:off x="877243" y="1890064"/>
            <a:ext cx="4477420" cy="2323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Ø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1. El mejor modelo encontrado </a:t>
            </a:r>
            <a:r>
              <a:rPr lang="es-MX" b="1" kern="0" dirty="0">
                <a:solidFill>
                  <a:srgbClr val="002A50"/>
                </a:solidFill>
              </a:rPr>
              <a:t>para predecir PAY_AMT4</a:t>
            </a:r>
            <a:r>
              <a:rPr lang="es-MX" kern="0" dirty="0">
                <a:solidFill>
                  <a:srgbClr val="002A50"/>
                </a:solidFill>
              </a:rPr>
              <a:t> fue con </a:t>
            </a:r>
            <a:r>
              <a:rPr lang="es-MX" b="1" kern="0" dirty="0" err="1">
                <a:solidFill>
                  <a:srgbClr val="002A50"/>
                </a:solidFill>
              </a:rPr>
              <a:t>XGBoost</a:t>
            </a:r>
            <a:r>
              <a:rPr lang="es-MX" kern="0" dirty="0">
                <a:solidFill>
                  <a:srgbClr val="002A50"/>
                </a:solidFill>
              </a:rPr>
              <a:t>, considerando la </a:t>
            </a:r>
            <a:r>
              <a:rPr lang="es-MX" b="1" kern="0" dirty="0">
                <a:solidFill>
                  <a:srgbClr val="002A50"/>
                </a:solidFill>
              </a:rPr>
              <a:t>métrica  “R2”</a:t>
            </a:r>
            <a:r>
              <a:rPr lang="es-MX" kern="0" dirty="0">
                <a:solidFill>
                  <a:srgbClr val="002A50"/>
                </a:solidFill>
              </a:rPr>
              <a:t>.</a:t>
            </a:r>
          </a:p>
          <a:p>
            <a:pPr marL="342900" indent="-342900" algn="just">
              <a:buClr>
                <a:srgbClr val="002A50"/>
              </a:buClr>
              <a:buFont typeface="Wingdings" panose="05000000000000000000" pitchFamily="2" charset="2"/>
              <a:buChar char="Ø"/>
            </a:pPr>
            <a:r>
              <a:rPr lang="es-MX" kern="0" dirty="0">
                <a:solidFill>
                  <a:srgbClr val="002A50"/>
                </a:solidFill>
              </a:rPr>
              <a:t>2. El mejor modelo encontrado </a:t>
            </a:r>
            <a:r>
              <a:rPr lang="es-MX" b="1" kern="0" dirty="0">
                <a:solidFill>
                  <a:srgbClr val="002A50"/>
                </a:solidFill>
              </a:rPr>
              <a:t>para predecir  </a:t>
            </a:r>
            <a:r>
              <a:rPr lang="es-MX" b="1" kern="0" dirty="0" err="1">
                <a:solidFill>
                  <a:srgbClr val="002A50"/>
                </a:solidFill>
              </a:rPr>
              <a:t>default_payment_next_month</a:t>
            </a:r>
            <a:r>
              <a:rPr lang="es-MX" b="1" kern="0" dirty="0">
                <a:solidFill>
                  <a:srgbClr val="002A50"/>
                </a:solidFill>
              </a:rPr>
              <a:t> </a:t>
            </a:r>
            <a:r>
              <a:rPr lang="es-MX" kern="0" dirty="0">
                <a:solidFill>
                  <a:srgbClr val="002A50"/>
                </a:solidFill>
              </a:rPr>
              <a:t>fue con </a:t>
            </a:r>
            <a:r>
              <a:rPr lang="es-MX" b="1" kern="0" dirty="0" err="1">
                <a:solidFill>
                  <a:srgbClr val="002A50"/>
                </a:solidFill>
              </a:rPr>
              <a:t>Random</a:t>
            </a:r>
            <a:r>
              <a:rPr lang="es-MX" b="1" kern="0" dirty="0">
                <a:solidFill>
                  <a:srgbClr val="002A50"/>
                </a:solidFill>
              </a:rPr>
              <a:t> Forest</a:t>
            </a:r>
            <a:r>
              <a:rPr lang="es-MX" kern="0" dirty="0">
                <a:solidFill>
                  <a:srgbClr val="002A50"/>
                </a:solidFill>
              </a:rPr>
              <a:t>, considerando la </a:t>
            </a:r>
            <a:r>
              <a:rPr lang="es-MX" b="1" kern="0" dirty="0">
                <a:solidFill>
                  <a:srgbClr val="002A50"/>
                </a:solidFill>
              </a:rPr>
              <a:t>métrica  “F1-Score Ponderada”</a:t>
            </a:r>
            <a:r>
              <a:rPr lang="es-MX" kern="0" dirty="0">
                <a:solidFill>
                  <a:srgbClr val="002A50"/>
                </a:solidFill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Ø"/>
              <a:tabLst/>
              <a:defRPr/>
            </a:pPr>
            <a:endParaRPr lang="es-MX" kern="0" dirty="0">
              <a:solidFill>
                <a:srgbClr val="002A50"/>
              </a:solidFill>
            </a:endParaRPr>
          </a:p>
        </p:txBody>
      </p:sp>
      <p:sp>
        <p:nvSpPr>
          <p:cNvPr id="16" name="Google Shape;366;p43">
            <a:extLst>
              <a:ext uri="{FF2B5EF4-FFF2-40B4-BE49-F238E27FC236}">
                <a16:creationId xmlns:a16="http://schemas.microsoft.com/office/drawing/2014/main" id="{7E696AEF-5C43-8D46-59EA-E49BBD712DCF}"/>
              </a:ext>
            </a:extLst>
          </p:cNvPr>
          <p:cNvSpPr txBox="1">
            <a:spLocks/>
          </p:cNvSpPr>
          <p:nvPr/>
        </p:nvSpPr>
        <p:spPr>
          <a:xfrm>
            <a:off x="6837339" y="1902764"/>
            <a:ext cx="4477420" cy="166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Ø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Probar otros modelos no lineales.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Ø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Robustecer la selección de características, ya que aquí se usaron todas las variables.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Ø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Realizar la estructura de código en formato para conexión de puesta en producción.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2B37F6F-2AB3-2BDB-A089-FC591E2DA2B6}"/>
              </a:ext>
            </a:extLst>
          </p:cNvPr>
          <p:cNvCxnSpPr>
            <a:cxnSpLocks/>
          </p:cNvCxnSpPr>
          <p:nvPr/>
        </p:nvCxnSpPr>
        <p:spPr>
          <a:xfrm>
            <a:off x="1562925" y="1437511"/>
            <a:ext cx="2725057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4ABD8D34-4FA0-ABEE-E015-373FF9A6B199}"/>
              </a:ext>
            </a:extLst>
          </p:cNvPr>
          <p:cNvCxnSpPr>
            <a:cxnSpLocks/>
          </p:cNvCxnSpPr>
          <p:nvPr/>
        </p:nvCxnSpPr>
        <p:spPr>
          <a:xfrm>
            <a:off x="7356829" y="1437511"/>
            <a:ext cx="3131457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9810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29_TF78853419_Win32.potx" id="{697C08D2-4C4A-4521-8070-5B07DA2F2744}" vid="{B4D4694D-4865-44CB-AD44-43D5DBA7E4D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9EC1AB0-9704-404D-B6D3-819D938AC55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{22192C24-4054-406C-A368-C50F743DA67E}tf78853419_win32</Template>
  <TotalTime>181</TotalTime>
  <Words>461</Words>
  <Application>Microsoft Office PowerPoint</Application>
  <PresentationFormat>Panorámica</PresentationFormat>
  <Paragraphs>51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3" baseType="lpstr">
      <vt:lpstr>Arial</vt:lpstr>
      <vt:lpstr>Calibri</vt:lpstr>
      <vt:lpstr>Figtree</vt:lpstr>
      <vt:lpstr>Figtree Black</vt:lpstr>
      <vt:lpstr>Franklin Gothic Book</vt:lpstr>
      <vt:lpstr>Franklin Gothic Demi</vt:lpstr>
      <vt:lpstr>Lato</vt:lpstr>
      <vt:lpstr>Wingdings</vt:lpstr>
      <vt:lpstr>Tema1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Alessio Rojas</dc:creator>
  <cp:lastModifiedBy>Alessio Rojas</cp:lastModifiedBy>
  <cp:revision>6</cp:revision>
  <dcterms:created xsi:type="dcterms:W3CDTF">2025-02-27T00:07:37Z</dcterms:created>
  <dcterms:modified xsi:type="dcterms:W3CDTF">2025-11-21T19:37:55Z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